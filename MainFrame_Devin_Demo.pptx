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1695" cy="91440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70248" y="822960"/>
            <a:ext cx="3657600" cy="109728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TITLE LOGO ]</a:t>
            </a:r>
          </a:p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Wells Fargo + Mphasis</a:t>
            </a:r>
          </a:p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The Next Applied</a:t>
            </a:r>
          </a:p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(drop logo here)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F2933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11880"/>
            <a:ext cx="94183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A5121B"/>
                </a:solidFill>
                <a:latin typeface="Calibri"/>
              </a:rPr>
              <a:t>Plastic Issuance &amp; Settlement — an autonomous build-and-migrate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7448" y="4343400"/>
            <a:ext cx="2743200" cy="45720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2606D"/>
                </a:solidFill>
                <a:latin typeface="Calibri"/>
              </a:rPr>
              <a:t>Wells Fargo  +  Mphasis  ·  The Next Applied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61320" y="6382512"/>
            <a:ext cx="1508760" cy="45720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Wells Fargo + Mphasis</a:t>
            </a:r>
          </a:p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The Next Applied</a:t>
            </a:r>
          </a:p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(drop logo here)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02920" cy="457200"/>
          </a:xfrm>
          <a:prstGeom prst="round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234440"/>
            <a:ext cx="996696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500" b="0">
                <a:solidFill>
                  <a:srgbClr val="1F2933"/>
                </a:solidFill>
                <a:latin typeface="Calibri"/>
              </a:rPr>
              <a:t>What Devin is and how its delivery loop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01368"/>
            <a:ext cx="502920" cy="457200"/>
          </a:xfrm>
          <a:prstGeom prst="round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801368"/>
            <a:ext cx="996696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500" b="0">
                <a:solidFill>
                  <a:srgbClr val="1F2933"/>
                </a:solidFill>
                <a:latin typeface="Calibri"/>
              </a:rPr>
              <a:t>Why Devin is more efficient than autocomplete assistants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68296"/>
            <a:ext cx="502920" cy="457200"/>
          </a:xfrm>
          <a:prstGeom prst="round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368296"/>
            <a:ext cx="996696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500" b="0">
                <a:solidFill>
                  <a:srgbClr val="1F2933"/>
                </a:solidFill>
                <a:latin typeface="Calibri"/>
              </a:rPr>
              <a:t>Valuable Devin capabilities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35224"/>
            <a:ext cx="502920" cy="457200"/>
          </a:xfrm>
          <a:prstGeom prst="round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2935224"/>
            <a:ext cx="996696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500" b="0">
                <a:solidFill>
                  <a:srgbClr val="1F2933"/>
                </a:solidFill>
                <a:latin typeface="Calibri"/>
              </a:rPr>
              <a:t>How we apply them to this migration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02152"/>
            <a:ext cx="502920" cy="457200"/>
          </a:xfrm>
          <a:prstGeom prst="round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3502152"/>
            <a:ext cx="996696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500" b="0">
                <a:solidFill>
                  <a:srgbClr val="1F2933"/>
                </a:solidFill>
                <a:latin typeface="Calibri"/>
              </a:rPr>
              <a:t>The demo application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502920" cy="457200"/>
          </a:xfrm>
          <a:prstGeom prst="round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4069080"/>
            <a:ext cx="996696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500" b="0">
                <a:solidFill>
                  <a:srgbClr val="1F2933"/>
                </a:solidFill>
                <a:latin typeface="Calibri"/>
              </a:rPr>
              <a:t>Act 1 — build the mainframe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36008"/>
            <a:ext cx="502920" cy="457200"/>
          </a:xfrm>
          <a:prstGeom prst="round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636008"/>
            <a:ext cx="996696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500" b="0">
                <a:solidFill>
                  <a:srgbClr val="1F2933"/>
                </a:solidFill>
                <a:latin typeface="Calibri"/>
              </a:rPr>
              <a:t>Act 2 — migrate to .NET + React + 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02936"/>
            <a:ext cx="502920" cy="457200"/>
          </a:xfrm>
          <a:prstGeom prst="round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5202936"/>
            <a:ext cx="996696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500" b="0">
                <a:solidFill>
                  <a:srgbClr val="1F2933"/>
                </a:solidFill>
                <a:latin typeface="Calibri"/>
              </a:rPr>
              <a:t>Business-language prompting, precautions &amp; safe shortcuts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69864"/>
            <a:ext cx="502920" cy="457200"/>
          </a:xfrm>
          <a:prstGeom prst="round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5769864"/>
            <a:ext cx="996696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500" b="0">
                <a:solidFill>
                  <a:srgbClr val="1F2933"/>
                </a:solidFill>
                <a:latin typeface="Calibri"/>
              </a:rPr>
              <a:t>Demo runbook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0" y="6510528"/>
            <a:ext cx="12191695" cy="347472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528816"/>
            <a:ext cx="68580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6528816"/>
            <a:ext cx="10972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98480" y="6419088"/>
            <a:ext cx="1371600" cy="38404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Is Devin?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3E4C59"/>
                </a:solidFill>
                <a:latin typeface="Calibri"/>
              </a:rPr>
              <a:t>Devin is an autonomous AI software engineer: give it a goal and it plans, writes and runs code on its own machine, verifies the results, and opens a pull request — iterating until the work is correct.</a:t>
            </a:r>
          </a:p>
        </p:txBody>
      </p:sp>
      <p:pic>
        <p:nvPicPr>
          <p:cNvPr id="6" name="Picture 5" descr="devin-workflow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503" y="1965960"/>
            <a:ext cx="6666514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0" y="6510528"/>
            <a:ext cx="12191695" cy="347472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28816"/>
            <a:ext cx="68580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28816"/>
            <a:ext cx="10972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19088"/>
            <a:ext cx="1371600" cy="38404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Why Devin Is More Efficient</a:t>
            </a:r>
          </a:p>
        </p:txBody>
      </p:sp>
      <p:pic>
        <p:nvPicPr>
          <p:cNvPr id="5" name="Picture 4" descr="devin-vs-oth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4160"/>
            <a:ext cx="7680960" cy="4289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D71E28"/>
                </a:solidFill>
                <a:latin typeface="Calibri"/>
              </a:rPr>
              <a:t>■  </a:t>
            </a:r>
            <a:r>
              <a:rPr sz="1500">
                <a:solidFill>
                  <a:srgbClr val="1F2933"/>
                </a:solidFill>
                <a:latin typeface="Calibri"/>
              </a:rPr>
              <a:t>Owns whole tasks, not just the next line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D71E28"/>
                </a:solidFill>
                <a:latin typeface="Calibri"/>
              </a:rPr>
              <a:t>■  </a:t>
            </a:r>
            <a:r>
              <a:rPr sz="1500">
                <a:solidFill>
                  <a:srgbClr val="1F2933"/>
                </a:solidFill>
                <a:latin typeface="Calibri"/>
              </a:rPr>
              <a:t>Runs, tests and verifies its own work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D71E28"/>
                </a:solidFill>
                <a:latin typeface="Calibri"/>
              </a:rPr>
              <a:t>■  </a:t>
            </a:r>
            <a:r>
              <a:rPr sz="1500">
                <a:solidFill>
                  <a:srgbClr val="1F2933"/>
                </a:solidFill>
                <a:latin typeface="Calibri"/>
              </a:rPr>
              <a:t>Closes the loop by diffing real outputs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D71E28"/>
                </a:solidFill>
                <a:latin typeface="Calibri"/>
              </a:rPr>
              <a:t>■  </a:t>
            </a:r>
            <a:r>
              <a:rPr sz="1500">
                <a:solidFill>
                  <a:srgbClr val="1F2933"/>
                </a:solidFill>
                <a:latin typeface="Calibri"/>
              </a:rPr>
              <a:t>Runs many scoped sessions in parallel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510528"/>
            <a:ext cx="12191695" cy="347472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28816"/>
            <a:ext cx="68580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28816"/>
            <a:ext cx="10972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19088"/>
            <a:ext cx="1371600" cy="38404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Valuable Devin Capabilities</a:t>
            </a:r>
          </a:p>
        </p:txBody>
      </p:sp>
      <p:pic>
        <p:nvPicPr>
          <p:cNvPr id="5" name="Picture 4" descr="devin-capability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858" y="1234440"/>
            <a:ext cx="8825803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0" y="6510528"/>
            <a:ext cx="12191695" cy="347472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28816"/>
            <a:ext cx="68580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28816"/>
            <a:ext cx="10972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98480" y="6419088"/>
            <a:ext cx="1371600" cy="38404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How We Use These Features Here</a:t>
            </a:r>
          </a:p>
        </p:txBody>
      </p:sp>
      <p:pic>
        <p:nvPicPr>
          <p:cNvPr id="5" name="Picture 4" descr="devin-parallel-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8644"/>
            <a:ext cx="6766560" cy="4009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1325880"/>
            <a:ext cx="4663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D71E28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Scoped sessions per program area (PI vs. Settlement)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D71E28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Verification via LOCAL/run.sh output diffs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D71E28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Knowledge onboarding from README.md &amp; DOC/RUN_GUIDE.md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D71E28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Parallel PI and Settlement sessions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D71E28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Copybook → DTO automation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D71E28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CI acts as the regression oracle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510528"/>
            <a:ext cx="12191695" cy="347472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28816"/>
            <a:ext cx="68580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28816"/>
            <a:ext cx="10972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19088"/>
            <a:ext cx="1371600" cy="38404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Demo Application Architecture</a:t>
            </a:r>
          </a:p>
        </p:txBody>
      </p:sp>
      <p:pic>
        <p:nvPicPr>
          <p:cNvPr id="5" name="Picture 4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94" y="1143000"/>
            <a:ext cx="8571732" cy="5212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0" y="6510528"/>
            <a:ext cx="12191695" cy="347472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28816"/>
            <a:ext cx="68580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28816"/>
            <a:ext cx="10972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98480" y="6419088"/>
            <a:ext cx="1371600" cy="38404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Act 1 — Build the Mainframe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058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CD41"/>
                </a:solidFill>
                <a:latin typeface="Calibri"/>
              </a:rPr>
              <a:t>Devin builds and runs the full pipeline locally</a:t>
            </a:r>
          </a:p>
        </p:txBody>
      </p:sp>
      <p:pic>
        <p:nvPicPr>
          <p:cNvPr id="6" name="Picture 5" descr="pipelin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405" y="1234440"/>
            <a:ext cx="9840709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0" y="6510528"/>
            <a:ext cx="12191695" cy="347472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28816"/>
            <a:ext cx="68580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28816"/>
            <a:ext cx="10972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19088"/>
            <a:ext cx="1371600" cy="38404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Act 2 — Data Store → PostgreSQL + .NET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058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CD41"/>
                </a:solidFill>
                <a:latin typeface="Calibri"/>
              </a:rPr>
              <a:t>Exact decimal precision — no float/double drift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4983480" cy="3566160"/>
          </a:xfrm>
          <a:prstGeom prst="roundRect">
            <a:avLst/>
          </a:prstGeom>
          <a:solidFill>
            <a:srgbClr val="EDF0F3"/>
          </a:solidFill>
          <a:ln w="19050">
            <a:solidFill>
              <a:srgbClr val="52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49834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2606D"/>
                </a:solidFill>
                <a:latin typeface="Calibri"/>
              </a:rPr>
              <a:t>MAINFRAME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4617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2606D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DB2 relational tables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2606D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VSAM KSDS files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2606D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Packed-decimal money fields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2606D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Fixed record layouts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88152" y="2953512"/>
            <a:ext cx="585216" cy="402336"/>
          </a:xfrm>
          <a:prstGeom prst="rightArrow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1371600"/>
            <a:ext cx="4983480" cy="3566160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44752"/>
            <a:ext cx="49834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B6CB0"/>
                </a:solidFill>
                <a:latin typeface="Calibri"/>
              </a:rPr>
              <a:t>MODERN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874520"/>
            <a:ext cx="4617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.NET data services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PostgreSQL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DECIMAL columns (exact to the cent)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Row-count &amp; total verification vs.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88136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5121B"/>
                </a:solidFill>
                <a:latin typeface="Calibri"/>
              </a:rPr>
              <a:t>Precaution: amounts stored as DECIMAL, never float/double. Devin reconciles row counts and totals to the cent after migration.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0" y="6510528"/>
            <a:ext cx="12191695" cy="347472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6528816"/>
            <a:ext cx="68580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528816"/>
            <a:ext cx="10972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98480" y="6419088"/>
            <a:ext cx="1371600" cy="38404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Act 2 — Batch Job → .NET Background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058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CD41"/>
                </a:solidFill>
                <a:latin typeface="Calibri"/>
              </a:rPr>
              <a:t>Prove output equivalence line-for-line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4983480" cy="3566160"/>
          </a:xfrm>
          <a:prstGeom prst="roundRect">
            <a:avLst/>
          </a:prstGeom>
          <a:solidFill>
            <a:srgbClr val="EDF0F3"/>
          </a:solidFill>
          <a:ln w="19050">
            <a:solidFill>
              <a:srgbClr val="52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49834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2606D"/>
                </a:solidFill>
                <a:latin typeface="Calibri"/>
              </a:rPr>
              <a:t>MAINFRAME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4617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2606D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COBOL batch programs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2606D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JCL job steps &amp; COND codes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2606D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SYSOUT reports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2606D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Sequential read-process-write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88152" y="2953512"/>
            <a:ext cx="585216" cy="402336"/>
          </a:xfrm>
          <a:prstGeom prst="rightArrow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1371600"/>
            <a:ext cx="4983480" cy="3566160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44752"/>
            <a:ext cx="49834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B6CB0"/>
                </a:solidFill>
                <a:latin typeface="Calibri"/>
              </a:rPr>
              <a:t>MODERN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874520"/>
            <a:ext cx="4617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.NET background services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Same validation &amp; rejection rules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Same summary reports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Outputs diffed against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88136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5121B"/>
                </a:solidFill>
                <a:latin typeface="Calibri"/>
              </a:rPr>
              <a:t>The existing OUTPUT/*.txt reports are the reference oracle: the new service must reproduce them exactly on the same input.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0" y="6510528"/>
            <a:ext cx="12191695" cy="347472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6528816"/>
            <a:ext cx="68580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528816"/>
            <a:ext cx="10972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98480" y="6419088"/>
            <a:ext cx="1371600" cy="38404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Act 2 — CICS Green Screen → REST +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058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CD41"/>
                </a:solidFill>
                <a:latin typeface="Calibri"/>
              </a:rPr>
              <a:t>Stateless APIs · Wells Fargo-themed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2286000" cy="2743200"/>
          </a:xfrm>
          <a:prstGeom prst="roundRect">
            <a:avLst/>
          </a:prstGeom>
          <a:solidFill>
            <a:srgbClr val="EDF0F3"/>
          </a:solidFill>
          <a:ln w="19050">
            <a:solidFill>
              <a:srgbClr val="52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07592"/>
            <a:ext cx="22860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2606D"/>
                </a:solidFill>
                <a:latin typeface="Calibri"/>
              </a:rPr>
              <a:t>MAINFRAME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9202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2606D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CICS 3270 green screens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2606D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Pseudo-conversational COMMAREA state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99232" y="2404872"/>
            <a:ext cx="585216" cy="402336"/>
          </a:xfrm>
          <a:prstGeom prst="rightArrow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49040" y="1234440"/>
            <a:ext cx="2286000" cy="2743200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307592"/>
            <a:ext cx="22860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B6CB0"/>
                </a:solidFill>
                <a:latin typeface="Calibri"/>
              </a:rPr>
              <a:t>MODERN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737360"/>
            <a:ext cx="19202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Stateless REST endpoints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React screens on a shared theme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34440"/>
            <a:ext cx="52120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234440"/>
            <a:ext cx="5212080" cy="457200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1316736"/>
            <a:ext cx="1051560" cy="29260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234440"/>
            <a:ext cx="37490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Card Inquiry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874520"/>
            <a:ext cx="155448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E4C59"/>
                </a:solidFill>
                <a:latin typeface="Calibri"/>
              </a:rPr>
              <a:t>Card Number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874520"/>
            <a:ext cx="3108960" cy="29260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50" b="0">
                <a:solidFill>
                  <a:srgbClr val="1F2933"/>
                </a:solidFill>
                <a:latin typeface="Calibri"/>
              </a:rPr>
              <a:t>4000 12** **** 0017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286000"/>
            <a:ext cx="155448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E4C59"/>
                </a:solidFill>
                <a:latin typeface="Calibri"/>
              </a:rPr>
              <a:t>Customer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286000"/>
            <a:ext cx="3108960" cy="29260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50" b="0">
                <a:solidFill>
                  <a:srgbClr val="1F2933"/>
                </a:solidFill>
                <a:latin typeface="Calibri"/>
              </a:rPr>
              <a:t>J. RIVERA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697480"/>
            <a:ext cx="155448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E4C59"/>
                </a:solidFill>
                <a:latin typeface="Calibri"/>
              </a:rPr>
              <a:t>Card Type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697480"/>
            <a:ext cx="3108960" cy="29260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50" b="0">
                <a:solidFill>
                  <a:srgbClr val="1F2933"/>
                </a:solidFill>
                <a:latin typeface="Calibri"/>
              </a:rPr>
              <a:t>Debit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127248"/>
            <a:ext cx="1280160" cy="310896"/>
          </a:xfrm>
          <a:prstGeom prst="round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108960"/>
            <a:ext cx="15544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E4C59"/>
                </a:solidFill>
                <a:latin typeface="Calibri"/>
              </a:rPr>
              <a:t>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4114800"/>
            <a:ext cx="1280160" cy="347472"/>
          </a:xfrm>
          <a:prstGeom prst="round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F2933"/>
                </a:solidFill>
                <a:latin typeface="Calibri"/>
              </a:rPr>
              <a:t>Submit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10881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D71E28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React screens are built from a shared Wells Fargo design system / component library (ThemeProvider, AppHeader with logo, Button/Card/Table/StatusBadge)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D71E28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Status shown as coloured badges: green = Active, red = Blocked, grey = Closed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0" y="6510528"/>
            <a:ext cx="12191695" cy="347472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28816"/>
            <a:ext cx="68580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6528816"/>
            <a:ext cx="10972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11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98480" y="6419088"/>
            <a:ext cx="1371600" cy="38404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Act 2 — Settlement → Service +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058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CD41"/>
                </a:solidFill>
                <a:latin typeface="Calibri"/>
              </a:rPr>
              <a:t>Wells Fargo-themed reconciliation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2011680" cy="3931920"/>
          </a:xfrm>
          <a:prstGeom prst="roundRect">
            <a:avLst/>
          </a:prstGeom>
          <a:solidFill>
            <a:srgbClr val="EDF0F3"/>
          </a:solidFill>
          <a:ln w="19050">
            <a:solidFill>
              <a:srgbClr val="52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07592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2606D"/>
                </a:solidFill>
                <a:latin typeface="Calibri"/>
              </a:rPr>
              <a:t>MAINFRAME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645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2606D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Batch matching over VSAM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2606D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Easytrieve / SAS reports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2606D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Per-network reconciliation totals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24912" y="2999232"/>
            <a:ext cx="585216" cy="402336"/>
          </a:xfrm>
          <a:prstGeom prst="rightArrow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234440"/>
            <a:ext cx="2011680" cy="3931920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07592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B6CB0"/>
                </a:solidFill>
                <a:latin typeface="Calibri"/>
              </a:rPr>
              <a:t>MODERN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737360"/>
            <a:ext cx="1645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.NET settlement service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React dashboard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■  </a:t>
            </a:r>
            <a:r>
              <a:rPr sz="1200">
                <a:solidFill>
                  <a:srgbClr val="1F2933"/>
                </a:solidFill>
                <a:latin typeface="Calibri"/>
              </a:rPr>
              <a:t>Same matched/disputed/unmatched totals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234440"/>
            <a:ext cx="58521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1234440"/>
            <a:ext cx="5852160" cy="457200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0" y="1316736"/>
            <a:ext cx="1051560" cy="29260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234440"/>
            <a:ext cx="43891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Settlement Reconciliation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1828800"/>
            <a:ext cx="161544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1892808"/>
            <a:ext cx="16154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E4C59"/>
                </a:solidFill>
                <a:latin typeface="Calibri"/>
              </a:rPr>
              <a:t>Matched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148840"/>
            <a:ext cx="16154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F855A"/>
                </a:solidFill>
                <a:latin typeface="Calibri"/>
              </a:rPr>
              <a:t>18,204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6200" y="1828800"/>
            <a:ext cx="161544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6200" y="1892808"/>
            <a:ext cx="16154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E4C59"/>
                </a:solidFill>
                <a:latin typeface="Calibri"/>
              </a:rPr>
              <a:t>Disputed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6200" y="2148840"/>
            <a:ext cx="16154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CD41"/>
                </a:solidFill>
                <a:latin typeface="Calibri"/>
              </a:rPr>
              <a:t>126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3080" y="1828800"/>
            <a:ext cx="161544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3080" y="1892808"/>
            <a:ext cx="16154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E4C59"/>
                </a:solidFill>
                <a:latin typeface="Calibri"/>
              </a:rPr>
              <a:t>Unmatched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3080" y="2148840"/>
            <a:ext cx="16154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D71E28"/>
                </a:solidFill>
                <a:latin typeface="Calibri"/>
              </a:rPr>
              <a:t>342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2834640"/>
            <a:ext cx="1348740" cy="537210"/>
          </a:xfrm>
          <a:prstGeom prst="roundRect">
            <a:avLst/>
          </a:prstGeom>
          <a:solidFill>
            <a:srgbClr val="A5121B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Network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38060" y="2834640"/>
            <a:ext cx="1348740" cy="537210"/>
          </a:xfrm>
          <a:prstGeom prst="roundRect">
            <a:avLst/>
          </a:prstGeom>
          <a:solidFill>
            <a:srgbClr val="A5121B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Matched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2834640"/>
            <a:ext cx="1348740" cy="537210"/>
          </a:xfrm>
          <a:prstGeom prst="roundRect">
            <a:avLst/>
          </a:prstGeom>
          <a:solidFill>
            <a:srgbClr val="A5121B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Disputed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35540" y="2834640"/>
            <a:ext cx="1348740" cy="537210"/>
          </a:xfrm>
          <a:prstGeom prst="roundRect">
            <a:avLst/>
          </a:prstGeom>
          <a:solidFill>
            <a:srgbClr val="A5121B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Unmatched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3371850"/>
            <a:ext cx="1348740" cy="53721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1F2933"/>
                </a:solidFill>
                <a:latin typeface="Calibri"/>
              </a:rPr>
              <a:t>VISA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38060" y="3371850"/>
            <a:ext cx="1348740" cy="53721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1F2933"/>
                </a:solidFill>
                <a:latin typeface="Calibri"/>
              </a:rPr>
              <a:t>9,880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3371850"/>
            <a:ext cx="1348740" cy="53721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1F2933"/>
                </a:solidFill>
                <a:latin typeface="Calibri"/>
              </a:rPr>
              <a:t>54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35540" y="3371850"/>
            <a:ext cx="1348740" cy="53721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1F2933"/>
                </a:solidFill>
                <a:latin typeface="Calibri"/>
              </a:rPr>
              <a:t>121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3909060"/>
            <a:ext cx="1348740" cy="53721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1F2933"/>
                </a:solidFill>
                <a:latin typeface="Calibri"/>
              </a:rPr>
              <a:t>MC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38060" y="3909060"/>
            <a:ext cx="1348740" cy="53721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1F2933"/>
                </a:solidFill>
                <a:latin typeface="Calibri"/>
              </a:rPr>
              <a:t>6,102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3909060"/>
            <a:ext cx="1348740" cy="53721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1F2933"/>
                </a:solidFill>
                <a:latin typeface="Calibri"/>
              </a:rPr>
              <a:t>48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35540" y="3909060"/>
            <a:ext cx="1348740" cy="53721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1F2933"/>
                </a:solidFill>
                <a:latin typeface="Calibri"/>
              </a:rPr>
              <a:t>150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89320" y="4446270"/>
            <a:ext cx="1348740" cy="53721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1F2933"/>
                </a:solidFill>
                <a:latin typeface="Calibri"/>
              </a:rPr>
              <a:t>STAR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38060" y="4446270"/>
            <a:ext cx="1348740" cy="53721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1F2933"/>
                </a:solidFill>
                <a:latin typeface="Calibri"/>
              </a:rPr>
              <a:t>2,222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4446270"/>
            <a:ext cx="1348740" cy="53721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1F2933"/>
                </a:solidFill>
                <a:latin typeface="Calibri"/>
              </a:rPr>
              <a:t>24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35540" y="4446270"/>
            <a:ext cx="1348740" cy="53721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>
                <a:solidFill>
                  <a:srgbClr val="1F2933"/>
                </a:solidFill>
                <a:latin typeface="Calibri"/>
              </a:rPr>
              <a:t>71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5121B"/>
                </a:solidFill>
                <a:latin typeface="Calibri"/>
              </a:rPr>
              <a:t>Matched / disputed / unmatched totals per network must equal today's reconciliation output before the legacy job is retired.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0" y="6510528"/>
            <a:ext cx="12191695" cy="347472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6528816"/>
            <a:ext cx="68580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6528816"/>
            <a:ext cx="10972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12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698480" y="6419088"/>
            <a:ext cx="1371600" cy="38404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Business-Language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058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CD41"/>
                </a:solidFill>
                <a:latin typeface="Calibri"/>
              </a:rPr>
              <a:t>Plain functional prompts — no code or file names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114800"/>
              </a:tblGrid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Business-language prompt</a:t>
                      </a:r>
                    </a:p>
                  </a:txBody>
                  <a:tcPr>
                    <a:solidFill>
                      <a:srgbClr val="A512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Why it works</a:t>
                      </a:r>
                    </a:p>
                  </a:txBody>
                  <a:tcPr>
                    <a:solidFill>
                      <a:srgbClr val="A5121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</a:rPr>
                        <a:t>A · Issue cards with an industry-standard card-number checksum; reject-and-report bad records, don't fail the run.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A5121B"/>
                          </a:solidFill>
                        </a:rPr>
                        <a:t>Points at Luhn without naming it; captures batch resilience.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</a:rPr>
                        <a:t>A · Match daily settlement into matched / disputed / unmatched, efficiently for large files.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A5121B"/>
                          </a:solidFill>
                        </a:rPr>
                        <a:t>Yields the sorted-merge algorithm and per-network totals.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</a:rPr>
                        <a:t>B · Migrate one business area at a time, run in parallel, prove equivalence; rules unchanged.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A5121B"/>
                          </a:solidFill>
                        </a:rPr>
                        <a:t>Sets a safe, verifiable incremental strategy.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</a:rPr>
                        <a:t>B · Store money exactly — no floating point; verify totals to the cent.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A5121B"/>
                          </a:solidFill>
                        </a:rPr>
                        <a:t>Locks in decimal precision as an acceptance test.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3"/>
                          </a:solidFill>
                        </a:rPr>
                        <a:t>B · Build a reusable Wells Fargo React design system first (theme, header, badges).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A5121B"/>
                          </a:solidFill>
                        </a:rPr>
                        <a:t>Every screen inherits one brand-accurate look.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0" y="6510528"/>
            <a:ext cx="12191695" cy="347472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28816"/>
            <a:ext cx="68580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28816"/>
            <a:ext cx="10972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19088"/>
            <a:ext cx="1371600" cy="38404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Precautions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7715" y="1737360"/>
            <a:ext cx="21488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6375" y="2011680"/>
            <a:ext cx="731520" cy="731520"/>
          </a:xfrm>
          <a:prstGeom prst="ellipse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100" b="1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7" name="Rectangle 6"/>
          <p:cNvSpPr/>
          <p:nvPr/>
        </p:nvSpPr>
        <p:spPr>
          <a:xfrm>
            <a:off x="742035" y="2880360"/>
            <a:ext cx="1600200" cy="36576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9155" y="3017520"/>
            <a:ext cx="19659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F2933"/>
                </a:solidFill>
                <a:latin typeface="Calibri"/>
              </a:rPr>
              <a:t>Money &amp; decimal 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155" y="3749039"/>
            <a:ext cx="196596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E4C59"/>
                </a:solidFill>
                <a:latin typeface="Calibri"/>
              </a:rPr>
              <a:t>Use exact DECIMAL; never float/double.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4571" y="1737360"/>
            <a:ext cx="21488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3231" y="2055571"/>
            <a:ext cx="731520" cy="146304"/>
          </a:xfrm>
          <a:prstGeom prst="round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53231" y="2304288"/>
            <a:ext cx="731520" cy="146304"/>
          </a:xfrm>
          <a:prstGeom prst="round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3231" y="2553004"/>
            <a:ext cx="731520" cy="146304"/>
          </a:xfrm>
          <a:prstGeom prst="round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8891" y="2880360"/>
            <a:ext cx="1600200" cy="36576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6011" y="3017520"/>
            <a:ext cx="19659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F2933"/>
                </a:solidFill>
                <a:latin typeface="Calibri"/>
              </a:rPr>
              <a:t>Fixed-width file offsets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6011" y="3749039"/>
            <a:ext cx="196596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E4C59"/>
                </a:solidFill>
                <a:latin typeface="Calibri"/>
              </a:rPr>
              <a:t>Preserve byte positions when parsing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1427" y="1737360"/>
            <a:ext cx="21488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-Right Arrow 17"/>
          <p:cNvSpPr/>
          <p:nvPr/>
        </p:nvSpPr>
        <p:spPr>
          <a:xfrm>
            <a:off x="5730087" y="2216505"/>
            <a:ext cx="731520" cy="321868"/>
          </a:xfrm>
          <a:prstGeom prst="leftRightArrow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95747" y="2880360"/>
            <a:ext cx="1600200" cy="36576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2867" y="3017520"/>
            <a:ext cx="19659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F2933"/>
                </a:solidFill>
                <a:latin typeface="Calibri"/>
              </a:rPr>
              <a:t>Stateless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2867" y="3749039"/>
            <a:ext cx="196596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E4C59"/>
                </a:solidFill>
                <a:latin typeface="Calibri"/>
              </a:rPr>
              <a:t>No hidden session state between screens.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8283" y="1737360"/>
            <a:ext cx="21488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&quot;No&quot; Symbol 22"/>
          <p:cNvSpPr/>
          <p:nvPr/>
        </p:nvSpPr>
        <p:spPr>
          <a:xfrm>
            <a:off x="8006943" y="2011680"/>
            <a:ext cx="731520" cy="731520"/>
          </a:xfrm>
          <a:prstGeom prst="noSmoking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72603" y="2880360"/>
            <a:ext cx="1600200" cy="36576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9723" y="3017520"/>
            <a:ext cx="19659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F2933"/>
                </a:solidFill>
                <a:latin typeface="Calibri"/>
              </a:rPr>
              <a:t>Job-failure dependency gating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9723" y="3749039"/>
            <a:ext cx="196596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E4C59"/>
                </a:solidFill>
                <a:latin typeface="Calibri"/>
              </a:rPr>
              <a:t>Never run a step if the prior one failed.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75139" y="1737360"/>
            <a:ext cx="21488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83799" y="2011680"/>
            <a:ext cx="731520" cy="731520"/>
          </a:xfrm>
          <a:prstGeom prst="ellipse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100" b="1">
                <a:solidFill>
                  <a:srgbClr val="FFFFFF"/>
                </a:solidFill>
                <a:latin typeface="Calibri"/>
              </a:rPr>
              <a:t>=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49459" y="2880360"/>
            <a:ext cx="1600200" cy="36576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66579" y="3017520"/>
            <a:ext cx="19659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F2933"/>
                </a:solidFill>
                <a:latin typeface="Calibri"/>
              </a:rPr>
              <a:t>Parallel-run reconciliation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6579" y="3749039"/>
            <a:ext cx="196596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E4C59"/>
                </a:solidFill>
                <a:latin typeface="Calibri"/>
              </a:rPr>
              <a:t>Compare old vs. new outputs before cutover.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0" y="6510528"/>
            <a:ext cx="12191695" cy="347472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528816"/>
            <a:ext cx="68580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6528816"/>
            <a:ext cx="10972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14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98480" y="6419088"/>
            <a:ext cx="1371600" cy="38404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Safe Shortcuts &amp; Automations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88136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822960" cy="822960"/>
          </a:xfrm>
          <a:prstGeom prst="round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ular Arrow 6"/>
          <p:cNvSpPr/>
          <p:nvPr/>
        </p:nvSpPr>
        <p:spPr>
          <a:xfrm>
            <a:off x="1005840" y="1920240"/>
            <a:ext cx="457200" cy="457200"/>
          </a:xfrm>
          <a:prstGeom prst="circular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1627632"/>
            <a:ext cx="9418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933"/>
                </a:solidFill>
                <a:latin typeface="Calibri"/>
              </a:rPr>
              <a:t>Local pipeline as CI regression oracle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84832"/>
            <a:ext cx="94183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E4C59"/>
                </a:solidFill>
                <a:latin typeface="Calibri"/>
              </a:rPr>
              <a:t>LOCAL/build.sh + run.sh give a laptop-runnable baseline; wire it into CI so every change is diffed against known-good outputs.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1088136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291840"/>
            <a:ext cx="822960" cy="822960"/>
          </a:xfrm>
          <a:prstGeom prst="round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3634740"/>
            <a:ext cx="283464" cy="283464"/>
          </a:xfrm>
          <a:prstGeom prst="roundRect">
            <a:avLst/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3497580"/>
            <a:ext cx="283464" cy="2834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3182112"/>
            <a:ext cx="9418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933"/>
                </a:solidFill>
                <a:latin typeface="Calibri"/>
              </a:rPr>
              <a:t>Layout-to-DTO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639312"/>
            <a:ext cx="94183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E4C59"/>
                </a:solidFill>
                <a:latin typeface="Calibri"/>
              </a:rPr>
              <a:t>Turn fixed-width record layouts into typed DTOs automatically — preserving field offsets and decimal scale.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1088136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846320"/>
            <a:ext cx="822960" cy="822960"/>
          </a:xfrm>
          <a:prstGeom prst="round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5234940"/>
            <a:ext cx="228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34440" y="5234940"/>
            <a:ext cx="228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0976" y="52029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9576" y="52029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08176" y="52029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4736592"/>
            <a:ext cx="9418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933"/>
                </a:solidFill>
                <a:latin typeface="Calibri"/>
              </a:rPr>
              <a:t>Schedule dependency-graph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5193792"/>
            <a:ext cx="94183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E4C59"/>
                </a:solidFill>
                <a:latin typeface="Calibri"/>
              </a:rPr>
              <a:t>Read the batch schedule and derive the success-gated dependency graph the orchestration must preserve.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0" y="6510528"/>
            <a:ext cx="12191695" cy="347472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28816"/>
            <a:ext cx="68580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528816"/>
            <a:ext cx="10972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98480" y="6419088"/>
            <a:ext cx="1371600" cy="38404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Demo Runbook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058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CD41"/>
                </a:solidFill>
                <a:latin typeface="Calibri"/>
              </a:rPr>
              <a:t>Exact commands for the local end-to-end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5121B"/>
                </a:solidFill>
                <a:latin typeface="Calibri"/>
              </a:rPr>
              <a:t>1  Build all programs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10881360" cy="548640"/>
          </a:xfrm>
          <a:prstGeom prst="round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/>
            <a:r>
              <a:rPr sz="1400" b="1">
                <a:solidFill>
                  <a:srgbClr val="FFCD41"/>
                </a:solidFill>
                <a:latin typeface="Consolas"/>
              </a:rPr>
              <a:t>$ cd LOCAL &amp;&amp; bash build.sh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10881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5121B"/>
                </a:solidFill>
                <a:latin typeface="Calibri"/>
              </a:rPr>
              <a:t>2  Run the full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98064"/>
            <a:ext cx="10881360" cy="548640"/>
          </a:xfrm>
          <a:prstGeom prst="round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/>
            <a:r>
              <a:rPr sz="1400" b="1">
                <a:solidFill>
                  <a:srgbClr val="FFCD41"/>
                </a:solidFill>
                <a:latin typeface="Consolas"/>
              </a:rPr>
              <a:t>$ cd LOCAL &amp;&amp; bash run.sh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9584"/>
            <a:ext cx="10881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5121B"/>
                </a:solidFill>
                <a:latin typeface="Calibri"/>
              </a:rPr>
              <a:t>3  Inspect key outputs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77056"/>
            <a:ext cx="10881360" cy="548640"/>
          </a:xfrm>
          <a:prstGeom prst="round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/>
            <a:r>
              <a:rPr sz="1400" b="1">
                <a:solidFill>
                  <a:srgbClr val="FFCD41"/>
                </a:solidFill>
                <a:latin typeface="Consolas"/>
              </a:rPr>
              <a:t>$ ls OUTPUT/   # CARDRPT.txt, STLRPT*.txt, MGTRPT.txt, SASOUT.csv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08576"/>
            <a:ext cx="10881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5121B"/>
                </a:solidFill>
                <a:latin typeface="Calibri"/>
              </a:rPr>
              <a:t>4  Prove equivalence (old vs. new)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56048"/>
            <a:ext cx="10881360" cy="548640"/>
          </a:xfrm>
          <a:prstGeom prst="round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l"/>
            <a:r>
              <a:rPr sz="1400" b="1">
                <a:solidFill>
                  <a:srgbClr val="FFCD41"/>
                </a:solidFill>
                <a:latin typeface="Consolas"/>
              </a:rPr>
              <a:t>$ diff OUTPUT/CARDRPT.txt  NEW/OUTPUT/CARDRPT.txt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0" y="6510528"/>
            <a:ext cx="12191695" cy="347472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6528816"/>
            <a:ext cx="68580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Accelerating Mainframe Modernization with Devin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528816"/>
            <a:ext cx="10972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2606D"/>
                </a:solidFill>
                <a:latin typeface="Calibri"/>
              </a:rPr>
              <a:t>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98480" y="6419088"/>
            <a:ext cx="1371600" cy="384048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FCD41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0248" y="4023360"/>
            <a:ext cx="3657600" cy="109728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A51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[ LOGO ]</a:t>
            </a:r>
          </a:p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Wells Fargo + Mphasis</a:t>
            </a:r>
          </a:p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The Next Applied</a:t>
            </a:r>
          </a:p>
          <a:p>
            <a:pPr algn="ctr"/>
            <a:r>
              <a:rPr sz="900" b="1">
                <a:solidFill>
                  <a:srgbClr val="A5121B"/>
                </a:solidFill>
                <a:latin typeface="Calibri"/>
              </a:rPr>
              <a:t>(drop logo here)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Wells Fargo  +  Mphasis  ·  The Next Applied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